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co8RbJNWNwB0Wb9F3zIHZrDVq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F812CB-12C6-447C-8728-5F9924D32428}">
  <a:tblStyle styleId="{7CF812CB-12C6-447C-8728-5F9924D3242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19105fc90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d19105fc90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d19105fc90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20040" y="0"/>
            <a:ext cx="8823960" cy="6400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40080" y="548640"/>
            <a:ext cx="2743200" cy="347472"/>
          </a:xfrm>
          <a:prstGeom prst="roundRect">
            <a:avLst>
              <a:gd fmla="val 13158" name="adj"/>
            </a:avLst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0080" y="54864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900"/>
              <a:buFont typeface="Calibri"/>
              <a:buNone/>
            </a:pPr>
            <a:r>
              <a:rPr b="1" lang="en-US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ECON-UB-232-Data-Bootcamp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75" y="1307400"/>
            <a:ext cx="7537500" cy="12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lang="en-US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Analyzing the Drivers of Yelp Restaurant Ratings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97129" y="2846350"/>
            <a:ext cx="1563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400"/>
              <a:buFont typeface="Calibri"/>
              <a:buNone/>
            </a:pPr>
            <a:r>
              <a:rPr lang="en-US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Helen Tu &amp; Siye Li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20040" y="4526280"/>
            <a:ext cx="8823960" cy="6172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40080" y="4526280"/>
            <a:ext cx="8229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Data Bootcamp  ·  Midterm Project  </a:t>
            </a:r>
            <a:r>
              <a:rPr b="0" i="0" lang="en-US" sz="11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·  Yelp Open Dataset (yelp.com/dataset)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Dataset Overview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274320" y="914400"/>
            <a:ext cx="192024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274320" y="914400"/>
            <a:ext cx="1920240" cy="64008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274320" y="100584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67,533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74320" y="171907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Restaurants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74320" y="20116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filtered from 150,346 total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450592" y="914400"/>
            <a:ext cx="192024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2450592" y="914400"/>
            <a:ext cx="1920240" cy="64008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2450592" y="100584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23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450592" y="171907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450592" y="20116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numeric &amp; categorical mix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626864" y="914400"/>
            <a:ext cx="192024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626864" y="914400"/>
            <a:ext cx="1920240" cy="64008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626864" y="100584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200K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626864" y="171907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Reviews Sampled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626864" y="20116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of 6M+ in full dataset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803136" y="914400"/>
            <a:ext cx="192024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803136" y="914400"/>
            <a:ext cx="1920240" cy="64008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803136" y="100584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20+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803136" y="171907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Cities Covered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803136" y="20116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 and Canada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74325" y="2560325"/>
            <a:ext cx="8595300" cy="155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274324" y="2560325"/>
            <a:ext cx="91500" cy="15546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502945" y="2583175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02945" y="2961165"/>
            <a:ext cx="8138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yelp_academic_dataset_business.json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  150,346 business records — location, categories, attributes, aggregate ratings</a:t>
            </a:r>
            <a:br>
              <a:rPr b="0" i="0" lang="en-US" sz="105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yelp_academic_dataset_review.json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  6M+ individual reviews — sampled 200K; 50K used for sentiment analysis</a:t>
            </a:r>
            <a:br>
              <a:rPr b="0" i="0" lang="en-US" sz="105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yelp_academic_dataset_checkin.json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  131,930 check-in records — used for engagement feature engineering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274320" y="4251960"/>
            <a:ext cx="8595360" cy="65836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57200" y="4251960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7 Research Sub-Questions:  Price Tier · Review Volume · Cuisine Type · Geography · Operating Hours · Amenities · Review Sentiment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Target Variable: Star Rating Distribution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yelp_project/fig1_star_distribution.png" id="64" name="Google Shape;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22960"/>
            <a:ext cx="859536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274320" y="4434840"/>
            <a:ext cx="1920240" cy="56692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274320" y="443484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3.55★  Mean Rating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450592" y="4434840"/>
            <a:ext cx="1920240" cy="56692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2450592" y="443484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3.5★  Median Rating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626864" y="4434840"/>
            <a:ext cx="1920240" cy="56692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626864" y="443484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4.0★  Modal Rating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803136" y="4434840"/>
            <a:ext cx="1920240" cy="56692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803136" y="443484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16,774  Restaurants at 4.0★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Q1 — Does Price Tier Affect Star Ratings?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yelp_project/fig2_price_tier.png" id="80" name="Google Shape;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22960"/>
            <a:ext cx="594360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/>
          <p:nvPr/>
        </p:nvSpPr>
        <p:spPr>
          <a:xfrm>
            <a:off x="6400800" y="822960"/>
            <a:ext cx="246888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6400800" y="822960"/>
            <a:ext cx="2468880" cy="64008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6492240" y="9144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Finding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492240" y="1280160"/>
            <a:ext cx="22860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ANOVA F = 330.79</a:t>
            </a:r>
            <a:br>
              <a:rPr b="1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p &lt; 0.001</a:t>
            </a:r>
            <a:br>
              <a:rPr b="1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Non-monotonic pattern:</a:t>
            </a:r>
            <a:br>
              <a:rPr b="0" i="1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1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$ Budget:  3.38★</a:t>
            </a:r>
            <a:b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$$ Mid:      3.60★</a:t>
            </a:r>
            <a:b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$$$ Upscale: 3.60★</a:t>
            </a:r>
            <a:b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$$$$ Luxury: 3.43★</a:t>
            </a:r>
            <a:b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Mid-range hits the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value-for-money sweet spot.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2193D"/>
          </a:solidFill>
          <a:ln cap="flat" cmpd="sng" w="12700">
            <a:solidFill>
              <a:srgbClr val="121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365760" y="448056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Insight: Luxury ($$$$) restaurants average lower than mid-range, likely due to higher diner expectations driving stricter ratings.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Q2 — Does Review Volume Correlate with Ratings?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yelp_project/fig3_review_volume.png" id="94" name="Google Shape;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22960"/>
            <a:ext cx="594360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6400800" y="822960"/>
            <a:ext cx="246888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400800" y="822960"/>
            <a:ext cx="2468880" cy="64008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6492240" y="9144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Finding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492240" y="1280160"/>
            <a:ext cx="22860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Pearson r = +0.180</a:t>
            </a:r>
            <a:br>
              <a:rPr b="1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p &lt; 0.001</a:t>
            </a:r>
            <a:br>
              <a:rPr b="1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Weak but significant</a:t>
            </a:r>
            <a:br>
              <a:rPr b="0" i="1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positive correlation.</a:t>
            </a:r>
            <a:br>
              <a:rPr b="0" i="1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1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1–10 reviews:   3.45★</a:t>
            </a:r>
            <a:b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500+ reviews:  4.00★</a:t>
            </a:r>
            <a:b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Slope = +0.133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(log scale)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2193D"/>
          </a:solidFill>
          <a:ln cap="flat" cmpd="sng" w="12700">
            <a:solidFill>
              <a:srgbClr val="121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365760" y="448056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Insight: Popular restaurants accumulate more reviews — quality drives both popularity and rating (survivorship effect).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Q3 — Which Cuisine Categories Rate Highest &amp; Lowest?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yelp_project/fig4_cuisine.png" id="108" name="Google Shape;1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777240"/>
            <a:ext cx="64008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/>
          <p:nvPr/>
        </p:nvSpPr>
        <p:spPr>
          <a:xfrm>
            <a:off x="6858000" y="822960"/>
            <a:ext cx="2011680" cy="146304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858000" y="8686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🏆 Highest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858000" y="1188720"/>
            <a:ext cx="20116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Specialty Food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4.01★  (n=1,142)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Desserts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3.97★  (n=899)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Bakeries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3.92★  (n=1,214)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858000" y="2423160"/>
            <a:ext cx="2011680" cy="146304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858000" y="24688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Lowest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858000" y="2788920"/>
            <a:ext cx="20116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 Food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2.56★  (n=2,227)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Burgers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~3.0★  (n=1,878)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Pizza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3.28★  (n=3,732)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2193D"/>
          </a:solidFill>
          <a:ln cap="flat" cmpd="sng" w="12700">
            <a:solidFill>
              <a:srgbClr val="121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365760" y="448056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Insight: ≈1.5-star spread between top and bottom cuisines. Artisanal/specialty categories attract enthusiast audiences with lower complaint thresholds.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Q4 — Does Geographic Location Explain Ratings?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yelp_project/fig5_geography.png" id="124" name="Google Shape;1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22960"/>
            <a:ext cx="859536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/>
          <p:nvPr/>
        </p:nvSpPr>
        <p:spPr>
          <a:xfrm>
            <a:off x="274320" y="4160520"/>
            <a:ext cx="1920240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274320" y="418795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E8A838"/>
                </a:solidFill>
                <a:latin typeface="Georgia"/>
                <a:ea typeface="Georgia"/>
                <a:cs typeface="Georgia"/>
                <a:sym typeface="Georgia"/>
              </a:rPr>
              <a:t>F = 29.12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274320" y="45720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ANOVA statistic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2450592" y="4160520"/>
            <a:ext cx="1920240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2450592" y="418795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E8A838"/>
                </a:solidFill>
                <a:latin typeface="Georgia"/>
                <a:ea typeface="Georgia"/>
                <a:cs typeface="Georgia"/>
                <a:sym typeface="Georgia"/>
              </a:rPr>
              <a:t>p &lt; 0.001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2450592" y="45720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Significance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626864" y="4160520"/>
            <a:ext cx="1920240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626864" y="418795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E8A838"/>
                </a:solidFill>
                <a:latin typeface="Georgia"/>
                <a:ea typeface="Georgia"/>
                <a:cs typeface="Georgia"/>
                <a:sym typeface="Georgia"/>
              </a:rPr>
              <a:t>3.88★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626864" y="45720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Santa Barbara (Highest)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803136" y="4160520"/>
            <a:ext cx="1920240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6803136" y="418795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E8A838"/>
                </a:solidFill>
                <a:latin typeface="Georgia"/>
                <a:ea typeface="Georgia"/>
                <a:cs typeface="Georgia"/>
                <a:sym typeface="Georgia"/>
              </a:rPr>
              <a:t>3.41★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803136" y="45720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Metairie (Lowest)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Q5 — Operating Hours  &amp;  Q6 — Amenity Attributes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yelp_project/fig6_hours.png" id="144" name="Google Shape;1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777240"/>
            <a:ext cx="429768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182880" y="3246120"/>
            <a:ext cx="429768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320040" y="329184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Operating Hours vs. Stars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320040" y="356616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r = −0.443  (p &lt; 0.001)  ·  Fewer hours = higher ratings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&lt;30h/wk avg 4.07★ vs 70–90h/wk avg 3.44★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yelp_project/fig7_amenities.png" id="148" name="Google Shape;14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777240"/>
            <a:ext cx="429768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/>
          <p:nvPr/>
        </p:nvSpPr>
        <p:spPr>
          <a:xfrm>
            <a:off x="4663440" y="3246120"/>
            <a:ext cx="429768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4800600" y="329184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Amenities vs. Stars (Mann-Whitney U)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800600" y="356616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Outdoor Seating +0.258★ · Parking +0.252★ · Reservations +0.228★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Delivery −0.225★ (signals fast-food/chain establishments)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2193D"/>
          </a:solidFill>
          <a:ln cap="flat" cmpd="sng" w="12700">
            <a:solidFill>
              <a:srgbClr val="121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365760" y="448056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Insight: Shorter hours &amp; upscale amenities both proxy for specialty/fine-dining venues, which consistently rate higher.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Q7 — Does Review Sentiment Align with Star Ratings?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yelp_project/fig8_sentiment.png" id="161" name="Google Shape;1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22960"/>
            <a:ext cx="658368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9"/>
          <p:cNvSpPr/>
          <p:nvPr/>
        </p:nvSpPr>
        <p:spPr>
          <a:xfrm>
            <a:off x="7040880" y="822960"/>
            <a:ext cx="182880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7040880" y="822960"/>
            <a:ext cx="1828800" cy="64008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7086600" y="896112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Sentiment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by Star Tier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7086600" y="1371600"/>
            <a:ext cx="1737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1★:  −0.04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2★:  +0.08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3★:  +0.20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4★:  +0.30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5★:  +0.36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TextBlob polarity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(−1 to +1)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2193D"/>
          </a:solidFill>
          <a:ln cap="flat" cmpd="sng" w="12700">
            <a:solidFill>
              <a:srgbClr val="121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365760" y="448056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Insight: Sentiment rises monotonically with stars — validating that review text and numeric ratings capture consistent signals.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Multivariate Analysis — Regression &amp; Correlation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274320" y="1289285"/>
            <a:ext cx="2286000" cy="118860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274320" y="1289275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3000"/>
              <a:buFont typeface="Georgia"/>
              <a:buNone/>
            </a:pPr>
            <a:r>
              <a:rPr b="1" i="0" lang="en-US" sz="2900" u="none" cap="none" strike="noStrike">
                <a:solidFill>
                  <a:srgbClr val="12193D"/>
                </a:solidFill>
                <a:latin typeface="Georgia"/>
                <a:ea typeface="Georgia"/>
                <a:cs typeface="Georgia"/>
                <a:sym typeface="Georgia"/>
              </a:rPr>
              <a:t>R² = 0.248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274320" y="1883565"/>
            <a:ext cx="228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9 features explain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~25% of rating variance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(n = 23,516)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8" name="Google Shape;178;p10"/>
          <p:cNvGraphicFramePr/>
          <p:nvPr/>
        </p:nvGraphicFramePr>
        <p:xfrm>
          <a:off x="2743175" y="775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{7CF812CB-12C6-447C-8728-5F9924D32428}</a:tableStyleId>
              </a:tblPr>
              <a:tblGrid>
                <a:gridCol w="3291850"/>
                <a:gridCol w="2834650"/>
              </a:tblGrid>
              <a:tr h="39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Effect on Stars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Weekly Hours (r = −0.443)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⬇ Strongest negative predictor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Outdoor Seating (+0.258★)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⬆ Largest positive amenity effect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Parking (+0.252★)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⬆ Strong positive amenity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Reservations (+0.228★)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⬆ Signals upscale dining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Delivery (−0.225★)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⬇ Signals fast-food/chain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 Review Count (r = +0.180)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⬆ Weak positive (survivorship)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10"/>
          <p:cNvSpPr/>
          <p:nvPr/>
        </p:nvSpPr>
        <p:spPr>
          <a:xfrm>
            <a:off x="274320" y="3291840"/>
            <a:ext cx="859536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274320" y="3291840"/>
            <a:ext cx="109728" cy="100584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502920" y="333756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Structural features explain ~25% of variance in star ratings. The remaining ~75% reflects idiosyncratic reviewer behavior, food quality, service, and factors not captured in business metadata. Operating hours emerged as the single strongest predictor (r = −0.443), acting as a proxy for restaurant type — specialty venues operate fewer hours and rate higher.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2193D"/>
          </a:solidFill>
          <a:ln cap="flat" cmpd="sng" w="12700">
            <a:solidFill>
              <a:srgbClr val="121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365760" y="448056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OLS Regression with StandardScaler normalization · 9 predictors · complete-case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3D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 Conclusions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548640" y="914400"/>
            <a:ext cx="4023360" cy="11430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548640" y="914400"/>
            <a:ext cx="411480" cy="114300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548640" y="914400"/>
            <a:ext cx="411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1051560" y="10058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Price isn't everything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1051560" y="129844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Mid-range ($$/$$$) hits the value-for-money sweet spot. Luxury ($$$$) disappoints relative to expectations.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548640" y="2221992"/>
            <a:ext cx="4023360" cy="11430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548640" y="2221992"/>
            <a:ext cx="411480" cy="114300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548640" y="2221992"/>
            <a:ext cx="411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1051560" y="2313432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Popular = higher-rated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1051560" y="260604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Restaurants with 500+ reviews average 4.0★ vs 3.45★ for low-review places — survivorship bias at work.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548640" y="3529584"/>
            <a:ext cx="4023360" cy="11430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548640" y="3529584"/>
            <a:ext cx="411480" cy="114300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548640" y="3529584"/>
            <a:ext cx="411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1051560" y="3621024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Cuisine type matters most visually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051560" y="3913632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≈1.5-star spread from Specialty Food (4.01★) to Fast Food (2.56★). Audience composition drives this gap.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846320" y="914400"/>
            <a:ext cx="4023360" cy="11430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4846320" y="914400"/>
            <a:ext cx="411480" cy="114300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4846320" y="914400"/>
            <a:ext cx="411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349240" y="10058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Fewer hours → better ratings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5349240" y="129844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r = −0.443: specialty/artisanal restaurants work shorter hours and rate much higher than long-hours chains.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4846320" y="2221992"/>
            <a:ext cx="4023360" cy="11430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4846320" y="2221992"/>
            <a:ext cx="411480" cy="114300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4846320" y="2221992"/>
            <a:ext cx="411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5349240" y="2313432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Amenities signal quality tier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5349240" y="260604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Outdoor seating &amp; reservations = higher ratings. Delivery = lower. The attribute reveals the restaurant type.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4846320" y="3529584"/>
            <a:ext cx="4023360" cy="11430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4846320" y="3529584"/>
            <a:ext cx="411480" cy="114300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4846320" y="3529584"/>
            <a:ext cx="411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5349240" y="3621024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Sentiment validates stars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349240" y="3913632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TextBlob polarity rises monotonically from −0.04 (1★) to +0.36 (5★), confirming internal consistency.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3D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19105fc90_0_8"/>
          <p:cNvSpPr/>
          <p:nvPr/>
        </p:nvSpPr>
        <p:spPr>
          <a:xfrm>
            <a:off x="0" y="0"/>
            <a:ext cx="320100" cy="514350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d19105fc90_0_8"/>
          <p:cNvSpPr/>
          <p:nvPr/>
        </p:nvSpPr>
        <p:spPr>
          <a:xfrm>
            <a:off x="320040" y="0"/>
            <a:ext cx="8823900" cy="639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d19105fc90_0_8"/>
          <p:cNvSpPr/>
          <p:nvPr/>
        </p:nvSpPr>
        <p:spPr>
          <a:xfrm>
            <a:off x="640080" y="548640"/>
            <a:ext cx="2743200" cy="347400"/>
          </a:xfrm>
          <a:prstGeom prst="roundRect">
            <a:avLst>
              <a:gd fmla="val 13158" name="adj"/>
            </a:avLst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d19105fc90_0_8"/>
          <p:cNvSpPr/>
          <p:nvPr/>
        </p:nvSpPr>
        <p:spPr>
          <a:xfrm>
            <a:off x="640080" y="54864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93D"/>
              </a:buClr>
              <a:buSzPts val="900"/>
              <a:buFont typeface="Calibri"/>
              <a:buNone/>
            </a:pPr>
            <a:r>
              <a:rPr b="1" lang="en-US">
                <a:solidFill>
                  <a:srgbClr val="12193D"/>
                </a:solidFill>
                <a:latin typeface="Calibri"/>
                <a:ea typeface="Calibri"/>
                <a:cs typeface="Calibri"/>
                <a:sym typeface="Calibri"/>
              </a:rPr>
              <a:t>ECON-UB-232-Data-Bootcamp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d19105fc90_0_8"/>
          <p:cNvSpPr/>
          <p:nvPr/>
        </p:nvSpPr>
        <p:spPr>
          <a:xfrm>
            <a:off x="2854650" y="2035246"/>
            <a:ext cx="38898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lang="en-US" sz="4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You!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d19105fc90_0_8"/>
          <p:cNvSpPr/>
          <p:nvPr/>
        </p:nvSpPr>
        <p:spPr>
          <a:xfrm>
            <a:off x="5696729" y="2922050"/>
            <a:ext cx="1563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400"/>
              <a:buFont typeface="Calibri"/>
              <a:buNone/>
            </a:pPr>
            <a:r>
              <a:rPr lang="en-US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Helen Tu &amp; Siye Li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d19105fc90_0_8"/>
          <p:cNvSpPr/>
          <p:nvPr/>
        </p:nvSpPr>
        <p:spPr>
          <a:xfrm>
            <a:off x="320040" y="4526280"/>
            <a:ext cx="8823900" cy="6171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d19105fc90_0_8"/>
          <p:cNvSpPr/>
          <p:nvPr/>
        </p:nvSpPr>
        <p:spPr>
          <a:xfrm>
            <a:off x="640080" y="4526280"/>
            <a:ext cx="8229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Data Bootcamp  ·  Midterm Project  ·  Yelp Open Dataset (yelp.com/dataset)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2026-03-21T23:41:46Z</dcterms:created>
  <dc:creator>Data Bootcamp Midterm</dc:creator>
</cp:coreProperties>
</file>